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Codec Pro" charset="1" panose="00000500000000000000"/>
      <p:regular r:id="rId13"/>
    </p:embeddedFont>
    <p:embeddedFont>
      <p:font typeface="RQND Pro" charset="1" panose="000005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77" t="-23644" r="-8939" b="-15547"/>
            </a:stretch>
          </a:blipFill>
        </p:spPr>
      </p:sp>
      <p:sp>
        <p:nvSpPr>
          <p:cNvPr name="Freeform 3" id="3"/>
          <p:cNvSpPr/>
          <p:nvPr/>
        </p:nvSpPr>
        <p:spPr>
          <a:xfrm flipH="false" flipV="false" rot="0">
            <a:off x="1028700" y="3107297"/>
            <a:ext cx="16230600" cy="4072405"/>
          </a:xfrm>
          <a:custGeom>
            <a:avLst/>
            <a:gdLst/>
            <a:ahLst/>
            <a:cxnLst/>
            <a:rect r="r" b="b" t="t" l="l"/>
            <a:pathLst>
              <a:path h="4072405" w="16230600">
                <a:moveTo>
                  <a:pt x="0" y="0"/>
                </a:moveTo>
                <a:lnTo>
                  <a:pt x="16230600" y="0"/>
                </a:lnTo>
                <a:lnTo>
                  <a:pt x="16230600" y="4072406"/>
                </a:lnTo>
                <a:lnTo>
                  <a:pt x="0" y="40724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423497" y="7650734"/>
            <a:ext cx="5589376" cy="609750"/>
          </a:xfrm>
          <a:custGeom>
            <a:avLst/>
            <a:gdLst/>
            <a:ahLst/>
            <a:cxnLst/>
            <a:rect r="r" b="b" t="t" l="l"/>
            <a:pathLst>
              <a:path h="609750" w="5589376">
                <a:moveTo>
                  <a:pt x="0" y="0"/>
                </a:moveTo>
                <a:lnTo>
                  <a:pt x="5589377" y="0"/>
                </a:lnTo>
                <a:lnTo>
                  <a:pt x="5589377" y="609750"/>
                </a:lnTo>
                <a:lnTo>
                  <a:pt x="0" y="6097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82472" y="2246836"/>
            <a:ext cx="5589376" cy="609750"/>
          </a:xfrm>
          <a:custGeom>
            <a:avLst/>
            <a:gdLst/>
            <a:ahLst/>
            <a:cxnLst/>
            <a:rect r="r" b="b" t="t" l="l"/>
            <a:pathLst>
              <a:path h="609750" w="5589376">
                <a:moveTo>
                  <a:pt x="0" y="0"/>
                </a:moveTo>
                <a:lnTo>
                  <a:pt x="5589377" y="0"/>
                </a:lnTo>
                <a:lnTo>
                  <a:pt x="5589377" y="609750"/>
                </a:lnTo>
                <a:lnTo>
                  <a:pt x="0" y="6097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283861" y="7650734"/>
            <a:ext cx="1758378" cy="1758378"/>
          </a:xfrm>
          <a:custGeom>
            <a:avLst/>
            <a:gdLst/>
            <a:ahLst/>
            <a:cxnLst/>
            <a:rect r="r" b="b" t="t" l="l"/>
            <a:pathLst>
              <a:path h="1758378" w="1758378">
                <a:moveTo>
                  <a:pt x="0" y="0"/>
                </a:moveTo>
                <a:lnTo>
                  <a:pt x="1758378" y="0"/>
                </a:lnTo>
                <a:lnTo>
                  <a:pt x="1758378" y="1758378"/>
                </a:lnTo>
                <a:lnTo>
                  <a:pt x="0" y="17583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0549976" y="-1571986"/>
            <a:ext cx="3143972" cy="3143972"/>
          </a:xfrm>
          <a:custGeom>
            <a:avLst/>
            <a:gdLst/>
            <a:ahLst/>
            <a:cxnLst/>
            <a:rect r="r" b="b" t="t" l="l"/>
            <a:pathLst>
              <a:path h="3143972" w="3143972">
                <a:moveTo>
                  <a:pt x="0" y="0"/>
                </a:moveTo>
                <a:lnTo>
                  <a:pt x="3143972" y="0"/>
                </a:lnTo>
                <a:lnTo>
                  <a:pt x="3143972" y="3143972"/>
                </a:lnTo>
                <a:lnTo>
                  <a:pt x="0" y="31439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1390548" y="3665860"/>
            <a:ext cx="15545004" cy="2698105"/>
          </a:xfrm>
          <a:prstGeom prst="rect">
            <a:avLst/>
          </a:prstGeom>
        </p:spPr>
        <p:txBody>
          <a:bodyPr anchor="t" rtlCol="false" tIns="0" lIns="0" bIns="0" rIns="0">
            <a:spAutoFit/>
          </a:bodyPr>
          <a:lstStyle/>
          <a:p>
            <a:pPr algn="ctr" marL="0" indent="0" lvl="0">
              <a:lnSpc>
                <a:spcPts val="10360"/>
              </a:lnSpc>
            </a:pPr>
            <a:r>
              <a:rPr lang="en-US" sz="7400">
                <a:solidFill>
                  <a:srgbClr val="FFFFFF"/>
                </a:solidFill>
                <a:latin typeface="Codec Pro"/>
                <a:ea typeface="Codec Pro"/>
                <a:cs typeface="Codec Pro"/>
                <a:sym typeface="Codec Pro"/>
              </a:rPr>
              <a:t>SPAM MESSAGE DETECTION USING LSTM</a:t>
            </a:r>
          </a:p>
        </p:txBody>
      </p:sp>
      <p:sp>
        <p:nvSpPr>
          <p:cNvPr name="TextBox 9" id="9"/>
          <p:cNvSpPr txBox="true"/>
          <p:nvPr/>
        </p:nvSpPr>
        <p:spPr>
          <a:xfrm rot="0">
            <a:off x="352296" y="8396287"/>
            <a:ext cx="3835803" cy="1181101"/>
          </a:xfrm>
          <a:prstGeom prst="rect">
            <a:avLst/>
          </a:prstGeom>
        </p:spPr>
        <p:txBody>
          <a:bodyPr anchor="t" rtlCol="false" tIns="0" lIns="0" bIns="0" rIns="0">
            <a:spAutoFit/>
          </a:bodyPr>
          <a:lstStyle/>
          <a:p>
            <a:pPr algn="l">
              <a:lnSpc>
                <a:spcPts val="4649"/>
              </a:lnSpc>
            </a:pPr>
            <a:r>
              <a:rPr lang="en-US" sz="2999" spc="-119">
                <a:solidFill>
                  <a:srgbClr val="FFFFFF">
                    <a:alpha val="60000"/>
                  </a:srgbClr>
                </a:solidFill>
                <a:latin typeface="Codec Pro"/>
                <a:ea typeface="Codec Pro"/>
                <a:cs typeface="Codec Pro"/>
                <a:sym typeface="Codec Pro"/>
              </a:rPr>
              <a:t>Presented  to:</a:t>
            </a:r>
          </a:p>
          <a:p>
            <a:pPr algn="l" marL="0" indent="0" lvl="0">
              <a:lnSpc>
                <a:spcPts val="4649"/>
              </a:lnSpc>
              <a:spcBef>
                <a:spcPct val="0"/>
              </a:spcBef>
            </a:pPr>
            <a:r>
              <a:rPr lang="en-US" sz="2999" spc="-119">
                <a:solidFill>
                  <a:srgbClr val="FFFFFF">
                    <a:alpha val="60000"/>
                  </a:srgbClr>
                </a:solidFill>
                <a:latin typeface="Codec Pro"/>
                <a:ea typeface="Codec Pro"/>
                <a:cs typeface="Codec Pro"/>
                <a:sym typeface="Codec Pro"/>
              </a:rPr>
              <a:t>Aayush Chand</a:t>
            </a:r>
          </a:p>
        </p:txBody>
      </p:sp>
      <p:sp>
        <p:nvSpPr>
          <p:cNvPr name="TextBox 10" id="10"/>
          <p:cNvSpPr txBox="true"/>
          <p:nvPr/>
        </p:nvSpPr>
        <p:spPr>
          <a:xfrm rot="0">
            <a:off x="13226850" y="8396287"/>
            <a:ext cx="4634341" cy="1762126"/>
          </a:xfrm>
          <a:prstGeom prst="rect">
            <a:avLst/>
          </a:prstGeom>
        </p:spPr>
        <p:txBody>
          <a:bodyPr anchor="t" rtlCol="false" tIns="0" lIns="0" bIns="0" rIns="0">
            <a:spAutoFit/>
          </a:bodyPr>
          <a:lstStyle/>
          <a:p>
            <a:pPr algn="r">
              <a:lnSpc>
                <a:spcPts val="4649"/>
              </a:lnSpc>
            </a:pPr>
            <a:r>
              <a:rPr lang="en-US" sz="2999" spc="-119">
                <a:solidFill>
                  <a:srgbClr val="FFFFFF">
                    <a:alpha val="60000"/>
                  </a:srgbClr>
                </a:solidFill>
                <a:latin typeface="Codec Pro"/>
                <a:ea typeface="Codec Pro"/>
                <a:cs typeface="Codec Pro"/>
                <a:sym typeface="Codec Pro"/>
              </a:rPr>
              <a:t>Presented by:</a:t>
            </a:r>
          </a:p>
          <a:p>
            <a:pPr algn="r">
              <a:lnSpc>
                <a:spcPts val="4649"/>
              </a:lnSpc>
            </a:pPr>
            <a:r>
              <a:rPr lang="en-US" sz="2999" spc="-119">
                <a:solidFill>
                  <a:srgbClr val="FFFFFF">
                    <a:alpha val="60000"/>
                  </a:srgbClr>
                </a:solidFill>
                <a:latin typeface="Codec Pro"/>
                <a:ea typeface="Codec Pro"/>
                <a:cs typeface="Codec Pro"/>
                <a:sym typeface="Codec Pro"/>
              </a:rPr>
              <a:t>Tanvi Shekhawat</a:t>
            </a:r>
          </a:p>
          <a:p>
            <a:pPr algn="r" marL="0" indent="0" lvl="0">
              <a:lnSpc>
                <a:spcPts val="4649"/>
              </a:lnSpc>
              <a:spcBef>
                <a:spcPct val="0"/>
              </a:spcBef>
            </a:pPr>
            <a:r>
              <a:rPr lang="en-US" sz="2999" spc="-119">
                <a:solidFill>
                  <a:srgbClr val="FFFFFF">
                    <a:alpha val="60000"/>
                  </a:srgbClr>
                </a:solidFill>
                <a:latin typeface="Codec Pro"/>
                <a:ea typeface="Codec Pro"/>
                <a:cs typeface="Codec Pro"/>
                <a:sym typeface="Codec Pro"/>
              </a:rPr>
              <a:t>Hansika Chaudhary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77" t="-23644" r="-8939" b="-15547"/>
            </a:stretch>
          </a:blipFill>
        </p:spPr>
      </p:sp>
      <p:sp>
        <p:nvSpPr>
          <p:cNvPr name="TextBox 3" id="3"/>
          <p:cNvSpPr txBox="true"/>
          <p:nvPr/>
        </p:nvSpPr>
        <p:spPr>
          <a:xfrm rot="0">
            <a:off x="229762" y="2664338"/>
            <a:ext cx="17710227" cy="8820786"/>
          </a:xfrm>
          <a:prstGeom prst="rect">
            <a:avLst/>
          </a:prstGeom>
        </p:spPr>
        <p:txBody>
          <a:bodyPr anchor="t" rtlCol="false" tIns="0" lIns="0" bIns="0" rIns="0">
            <a:spAutoFit/>
          </a:bodyPr>
          <a:lstStyle/>
          <a:p>
            <a:pPr algn="just">
              <a:lnSpc>
                <a:spcPts val="4959"/>
              </a:lnSpc>
            </a:pPr>
            <a:r>
              <a:rPr lang="en-US" sz="3199" spc="-127">
                <a:solidFill>
                  <a:srgbClr val="FFFFFF">
                    <a:alpha val="60000"/>
                  </a:srgbClr>
                </a:solidFill>
                <a:latin typeface="Codec Pro"/>
                <a:ea typeface="Codec Pro"/>
                <a:cs typeface="Codec Pro"/>
                <a:sym typeface="Codec Pro"/>
              </a:rPr>
              <a:t>This project uses an LSTM-based Deep Learning model to automatically classify SMS messages as Spam or Ham (legitimate). </a:t>
            </a:r>
            <a:r>
              <a:rPr lang="en-US" sz="3199" spc="-127">
                <a:solidFill>
                  <a:srgbClr val="FFFFFF">
                    <a:alpha val="60000"/>
                  </a:srgbClr>
                </a:solidFill>
                <a:latin typeface="Codec Pro"/>
                <a:ea typeface="Codec Pro"/>
                <a:cs typeface="Codec Pro"/>
                <a:sym typeface="Codec Pro"/>
              </a:rPr>
              <a:t>The system processes the UCI SMS Spam Collection dataset, trains and evaluates the model, and predicts whether new messages are spam with a corresponding probability.</a:t>
            </a:r>
          </a:p>
          <a:p>
            <a:pPr algn="just" marL="690877" indent="-345439" lvl="1">
              <a:lnSpc>
                <a:spcPts val="4959"/>
              </a:lnSpc>
              <a:buFont typeface="Arial"/>
              <a:buChar char="•"/>
            </a:pPr>
            <a:r>
              <a:rPr lang="en-US" sz="3199" spc="-127">
                <a:solidFill>
                  <a:srgbClr val="FFFFFF">
                    <a:alpha val="60000"/>
                  </a:srgbClr>
                </a:solidFill>
                <a:latin typeface="Codec Pro"/>
                <a:ea typeface="Codec Pro"/>
                <a:cs typeface="Codec Pro"/>
                <a:sym typeface="Codec Pro"/>
              </a:rPr>
              <a:t>Spam Detection: Identifies whether an SMS is Spam or Ham using Deep Learning.</a:t>
            </a:r>
          </a:p>
          <a:p>
            <a:pPr algn="just" marL="690877" indent="-345439" lvl="1">
              <a:lnSpc>
                <a:spcPts val="4959"/>
              </a:lnSpc>
              <a:buFont typeface="Arial"/>
              <a:buChar char="•"/>
            </a:pPr>
            <a:r>
              <a:rPr lang="en-US" sz="3199" spc="-127">
                <a:solidFill>
                  <a:srgbClr val="FFFFFF">
                    <a:alpha val="60000"/>
                  </a:srgbClr>
                </a:solidFill>
                <a:latin typeface="Codec Pro"/>
                <a:ea typeface="Codec Pro"/>
                <a:cs typeface="Codec Pro"/>
                <a:sym typeface="Codec Pro"/>
              </a:rPr>
              <a:t>Data Processing: Cleans, encodes, tokenizes, and prepares SMS text for model training.</a:t>
            </a:r>
          </a:p>
          <a:p>
            <a:pPr algn="just" marL="690877" indent="-345439" lvl="1">
              <a:lnSpc>
                <a:spcPts val="4959"/>
              </a:lnSpc>
              <a:buFont typeface="Arial"/>
              <a:buChar char="•"/>
            </a:pPr>
            <a:r>
              <a:rPr lang="en-US" sz="3199" spc="-127">
                <a:solidFill>
                  <a:srgbClr val="FFFFFF">
                    <a:alpha val="60000"/>
                  </a:srgbClr>
                </a:solidFill>
                <a:latin typeface="Codec Pro"/>
                <a:ea typeface="Codec Pro"/>
                <a:cs typeface="Codec Pro"/>
                <a:sym typeface="Codec Pro"/>
              </a:rPr>
              <a:t>LSTM Model: Uses an LSTM neural network to learn patterns and context from messages.</a:t>
            </a:r>
          </a:p>
          <a:p>
            <a:pPr algn="just" marL="690877" indent="-345439" lvl="1">
              <a:lnSpc>
                <a:spcPts val="4959"/>
              </a:lnSpc>
              <a:buFont typeface="Arial"/>
              <a:buChar char="•"/>
            </a:pPr>
            <a:r>
              <a:rPr lang="en-US" sz="3199" spc="-127">
                <a:solidFill>
                  <a:srgbClr val="FFFFFF">
                    <a:alpha val="60000"/>
                  </a:srgbClr>
                </a:solidFill>
                <a:latin typeface="Codec Pro"/>
                <a:ea typeface="Codec Pro"/>
                <a:cs typeface="Codec Pro"/>
                <a:sym typeface="Codec Pro"/>
              </a:rPr>
              <a:t>Model Evaluation: Evaluates performance using accuracy, classification report, and confusion matrix.</a:t>
            </a:r>
          </a:p>
          <a:p>
            <a:pPr algn="just" marL="690877" indent="-345439" lvl="1">
              <a:lnSpc>
                <a:spcPts val="4959"/>
              </a:lnSpc>
              <a:buFont typeface="Arial"/>
              <a:buChar char="•"/>
            </a:pPr>
            <a:r>
              <a:rPr lang="en-US" sz="3199" spc="-127">
                <a:solidFill>
                  <a:srgbClr val="FFFFFF">
                    <a:alpha val="60000"/>
                  </a:srgbClr>
                </a:solidFill>
                <a:latin typeface="Codec Pro"/>
                <a:ea typeface="Codec Pro"/>
                <a:cs typeface="Codec Pro"/>
                <a:sym typeface="Codec Pro"/>
              </a:rPr>
              <a:t>Real-Time Prediction: Predicts new messages as Spam/Ham along with spam probability.</a:t>
            </a:r>
          </a:p>
          <a:p>
            <a:pPr algn="just">
              <a:lnSpc>
                <a:spcPts val="4959"/>
              </a:lnSpc>
            </a:pPr>
          </a:p>
          <a:p>
            <a:pPr algn="just">
              <a:lnSpc>
                <a:spcPts val="4959"/>
              </a:lnSpc>
            </a:pPr>
          </a:p>
          <a:p>
            <a:pPr algn="just">
              <a:lnSpc>
                <a:spcPts val="4959"/>
              </a:lnSpc>
            </a:pPr>
          </a:p>
          <a:p>
            <a:pPr algn="just" marL="0" indent="0" lvl="0">
              <a:lnSpc>
                <a:spcPts val="4959"/>
              </a:lnSpc>
              <a:spcBef>
                <a:spcPct val="0"/>
              </a:spcBef>
            </a:pPr>
          </a:p>
        </p:txBody>
      </p:sp>
      <p:sp>
        <p:nvSpPr>
          <p:cNvPr name="TextBox 4" id="4"/>
          <p:cNvSpPr txBox="true"/>
          <p:nvPr/>
        </p:nvSpPr>
        <p:spPr>
          <a:xfrm rot="0">
            <a:off x="3816748" y="365548"/>
            <a:ext cx="10654504" cy="1501774"/>
          </a:xfrm>
          <a:prstGeom prst="rect">
            <a:avLst/>
          </a:prstGeom>
        </p:spPr>
        <p:txBody>
          <a:bodyPr anchor="t" rtlCol="false" tIns="0" lIns="0" bIns="0" rIns="0">
            <a:spAutoFit/>
          </a:bodyPr>
          <a:lstStyle/>
          <a:p>
            <a:pPr algn="l" marL="0" indent="0" lvl="0">
              <a:lnSpc>
                <a:spcPts val="11200"/>
              </a:lnSpc>
              <a:spcBef>
                <a:spcPct val="0"/>
              </a:spcBef>
            </a:pPr>
            <a:r>
              <a:rPr lang="en-US" sz="8000">
                <a:solidFill>
                  <a:srgbClr val="FFFFFF"/>
                </a:solidFill>
                <a:latin typeface="Codec Pro"/>
                <a:ea typeface="Codec Pro"/>
                <a:cs typeface="Codec Pro"/>
                <a:sym typeface="Codec Pro"/>
              </a:rPr>
              <a:t>PROJECT OVERVIEW</a:t>
            </a:r>
          </a:p>
        </p:txBody>
      </p:sp>
      <p:sp>
        <p:nvSpPr>
          <p:cNvPr name="Freeform 5" id="5"/>
          <p:cNvSpPr/>
          <p:nvPr/>
        </p:nvSpPr>
        <p:spPr>
          <a:xfrm flipH="false" flipV="false" rot="0">
            <a:off x="11219837" y="-1085269"/>
            <a:ext cx="2203661" cy="2203661"/>
          </a:xfrm>
          <a:custGeom>
            <a:avLst/>
            <a:gdLst/>
            <a:ahLst/>
            <a:cxnLst/>
            <a:rect r="r" b="b" t="t" l="l"/>
            <a:pathLst>
              <a:path h="2203661" w="2203661">
                <a:moveTo>
                  <a:pt x="0" y="0"/>
                </a:moveTo>
                <a:lnTo>
                  <a:pt x="2203660" y="0"/>
                </a:lnTo>
                <a:lnTo>
                  <a:pt x="2203660" y="2203661"/>
                </a:lnTo>
                <a:lnTo>
                  <a:pt x="0" y="22036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0194397" y="9168608"/>
            <a:ext cx="3229101" cy="352266"/>
          </a:xfrm>
          <a:custGeom>
            <a:avLst/>
            <a:gdLst/>
            <a:ahLst/>
            <a:cxnLst/>
            <a:rect r="r" b="b" t="t" l="l"/>
            <a:pathLst>
              <a:path h="352266" w="3229101">
                <a:moveTo>
                  <a:pt x="0" y="0"/>
                </a:moveTo>
                <a:lnTo>
                  <a:pt x="3229100" y="0"/>
                </a:lnTo>
                <a:lnTo>
                  <a:pt x="3229100" y="352266"/>
                </a:lnTo>
                <a:lnTo>
                  <a:pt x="0" y="3522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77" t="-23644" r="-8939" b="-15547"/>
            </a:stretch>
          </a:blipFill>
        </p:spPr>
      </p:sp>
      <p:sp>
        <p:nvSpPr>
          <p:cNvPr name="TextBox 3" id="3"/>
          <p:cNvSpPr txBox="true"/>
          <p:nvPr/>
        </p:nvSpPr>
        <p:spPr>
          <a:xfrm rot="0">
            <a:off x="860759" y="3292714"/>
            <a:ext cx="16699727" cy="4420386"/>
          </a:xfrm>
          <a:prstGeom prst="rect">
            <a:avLst/>
          </a:prstGeom>
        </p:spPr>
        <p:txBody>
          <a:bodyPr anchor="t" rtlCol="false" tIns="0" lIns="0" bIns="0" rIns="0">
            <a:spAutoFit/>
          </a:bodyPr>
          <a:lstStyle/>
          <a:p>
            <a:pPr algn="just" marL="690147" indent="-345074" lvl="1">
              <a:lnSpc>
                <a:spcPts val="4954"/>
              </a:lnSpc>
              <a:buFont typeface="Arial"/>
              <a:buChar char="•"/>
            </a:pPr>
            <a:r>
              <a:rPr lang="en-US" sz="3196">
                <a:solidFill>
                  <a:srgbClr val="FFFFFF">
                    <a:alpha val="60000"/>
                  </a:srgbClr>
                </a:solidFill>
                <a:latin typeface="Codec Pro"/>
                <a:ea typeface="Codec Pro"/>
                <a:cs typeface="Codec Pro"/>
                <a:sym typeface="Codec Pro"/>
              </a:rPr>
              <a:t>Smart Spam Detection: Instantly classifies SMS messages as Spam or Ham.</a:t>
            </a:r>
          </a:p>
          <a:p>
            <a:pPr algn="just" marL="690147" indent="-345074" lvl="1">
              <a:lnSpc>
                <a:spcPts val="4954"/>
              </a:lnSpc>
              <a:buFont typeface="Arial"/>
              <a:buChar char="•"/>
            </a:pPr>
            <a:r>
              <a:rPr lang="en-US" sz="3196">
                <a:solidFill>
                  <a:srgbClr val="FFFFFF">
                    <a:alpha val="60000"/>
                  </a:srgbClr>
                </a:solidFill>
                <a:latin typeface="Codec Pro"/>
                <a:ea typeface="Codec Pro"/>
                <a:cs typeface="Codec Pro"/>
                <a:sym typeface="Codec Pro"/>
              </a:rPr>
              <a:t>Efficient Text Processing: Converts raw messages into model-ready numerical data.</a:t>
            </a:r>
          </a:p>
          <a:p>
            <a:pPr algn="just" marL="690147" indent="-345074" lvl="1">
              <a:lnSpc>
                <a:spcPts val="4954"/>
              </a:lnSpc>
              <a:buFont typeface="Arial"/>
              <a:buChar char="•"/>
            </a:pPr>
            <a:r>
              <a:rPr lang="en-US" sz="3196" spc="-35">
                <a:solidFill>
                  <a:srgbClr val="FFFFFF">
                    <a:alpha val="60000"/>
                  </a:srgbClr>
                </a:solidFill>
                <a:latin typeface="Codec Pro"/>
                <a:ea typeface="Codec Pro"/>
                <a:cs typeface="Codec Pro"/>
                <a:sym typeface="Codec Pro"/>
              </a:rPr>
              <a:t>LSTM-Based Learning: Understands message patterns and contextual information.</a:t>
            </a:r>
          </a:p>
          <a:p>
            <a:pPr algn="just" marL="690147" indent="-345074" lvl="1">
              <a:lnSpc>
                <a:spcPts val="4954"/>
              </a:lnSpc>
              <a:buFont typeface="Arial"/>
              <a:buChar char="•"/>
            </a:pPr>
            <a:r>
              <a:rPr lang="en-US" sz="3196">
                <a:solidFill>
                  <a:srgbClr val="FFFFFF">
                    <a:alpha val="60000"/>
                  </a:srgbClr>
                </a:solidFill>
                <a:latin typeface="Codec Pro"/>
                <a:ea typeface="Codec Pro"/>
                <a:cs typeface="Codec Pro"/>
                <a:sym typeface="Codec Pro"/>
              </a:rPr>
              <a:t>Reliable Evaluation: Assesses performance using accuracy and confusion matrix.</a:t>
            </a:r>
          </a:p>
          <a:p>
            <a:pPr algn="just" marL="690147" indent="-345074" lvl="1">
              <a:lnSpc>
                <a:spcPts val="4954"/>
              </a:lnSpc>
              <a:buFont typeface="Arial"/>
              <a:buChar char="•"/>
            </a:pPr>
            <a:r>
              <a:rPr lang="en-US" sz="3196">
                <a:solidFill>
                  <a:srgbClr val="FFFFFF">
                    <a:alpha val="60000"/>
                  </a:srgbClr>
                </a:solidFill>
                <a:latin typeface="Codec Pro"/>
                <a:ea typeface="Codec Pro"/>
                <a:cs typeface="Codec Pro"/>
                <a:sym typeface="Codec Pro"/>
              </a:rPr>
              <a:t>Instant Prediction: Predicts new messages with a clear spam probability.</a:t>
            </a:r>
          </a:p>
          <a:p>
            <a:pPr algn="just" marL="0" indent="0" lvl="0">
              <a:lnSpc>
                <a:spcPts val="4954"/>
              </a:lnSpc>
              <a:spcBef>
                <a:spcPct val="0"/>
              </a:spcBef>
            </a:pPr>
          </a:p>
        </p:txBody>
      </p:sp>
      <p:sp>
        <p:nvSpPr>
          <p:cNvPr name="TextBox 4" id="4"/>
          <p:cNvSpPr txBox="true"/>
          <p:nvPr/>
        </p:nvSpPr>
        <p:spPr>
          <a:xfrm rot="0">
            <a:off x="6474721" y="365548"/>
            <a:ext cx="5236938" cy="1501774"/>
          </a:xfrm>
          <a:prstGeom prst="rect">
            <a:avLst/>
          </a:prstGeom>
        </p:spPr>
        <p:txBody>
          <a:bodyPr anchor="t" rtlCol="false" tIns="0" lIns="0" bIns="0" rIns="0">
            <a:spAutoFit/>
          </a:bodyPr>
          <a:lstStyle/>
          <a:p>
            <a:pPr algn="l" marL="0" indent="0" lvl="0">
              <a:lnSpc>
                <a:spcPts val="11200"/>
              </a:lnSpc>
              <a:spcBef>
                <a:spcPct val="0"/>
              </a:spcBef>
            </a:pPr>
            <a:r>
              <a:rPr lang="en-US" sz="8000">
                <a:solidFill>
                  <a:srgbClr val="FFFFFF"/>
                </a:solidFill>
                <a:latin typeface="Codec Pro"/>
                <a:ea typeface="Codec Pro"/>
                <a:cs typeface="Codec Pro"/>
                <a:sym typeface="Codec Pro"/>
              </a:rPr>
              <a:t>FEATURES</a:t>
            </a:r>
          </a:p>
        </p:txBody>
      </p:sp>
      <p:sp>
        <p:nvSpPr>
          <p:cNvPr name="Freeform 5" id="5"/>
          <p:cNvSpPr/>
          <p:nvPr/>
        </p:nvSpPr>
        <p:spPr>
          <a:xfrm flipH="false" flipV="false" rot="0">
            <a:off x="11219837" y="-1085269"/>
            <a:ext cx="2203661" cy="2203661"/>
          </a:xfrm>
          <a:custGeom>
            <a:avLst/>
            <a:gdLst/>
            <a:ahLst/>
            <a:cxnLst/>
            <a:rect r="r" b="b" t="t" l="l"/>
            <a:pathLst>
              <a:path h="2203661" w="2203661">
                <a:moveTo>
                  <a:pt x="0" y="0"/>
                </a:moveTo>
                <a:lnTo>
                  <a:pt x="2203660" y="0"/>
                </a:lnTo>
                <a:lnTo>
                  <a:pt x="2203660" y="2203661"/>
                </a:lnTo>
                <a:lnTo>
                  <a:pt x="0" y="22036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1711660" y="5143500"/>
            <a:ext cx="931504" cy="931504"/>
          </a:xfrm>
          <a:custGeom>
            <a:avLst/>
            <a:gdLst/>
            <a:ahLst/>
            <a:cxnLst/>
            <a:rect r="r" b="b" t="t" l="l"/>
            <a:pathLst>
              <a:path h="931504" w="931504">
                <a:moveTo>
                  <a:pt x="0" y="0"/>
                </a:moveTo>
                <a:lnTo>
                  <a:pt x="931504" y="0"/>
                </a:lnTo>
                <a:lnTo>
                  <a:pt x="931504" y="931504"/>
                </a:lnTo>
                <a:lnTo>
                  <a:pt x="0" y="9315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823778" y="2455841"/>
            <a:ext cx="3742277" cy="408248"/>
          </a:xfrm>
          <a:custGeom>
            <a:avLst/>
            <a:gdLst/>
            <a:ahLst/>
            <a:cxnLst/>
            <a:rect r="r" b="b" t="t" l="l"/>
            <a:pathLst>
              <a:path h="408248" w="3742277">
                <a:moveTo>
                  <a:pt x="0" y="0"/>
                </a:moveTo>
                <a:lnTo>
                  <a:pt x="3742277" y="0"/>
                </a:lnTo>
                <a:lnTo>
                  <a:pt x="3742277" y="408248"/>
                </a:lnTo>
                <a:lnTo>
                  <a:pt x="0" y="4082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037487" y="9355801"/>
            <a:ext cx="3742277" cy="408248"/>
          </a:xfrm>
          <a:custGeom>
            <a:avLst/>
            <a:gdLst/>
            <a:ahLst/>
            <a:cxnLst/>
            <a:rect r="r" b="b" t="t" l="l"/>
            <a:pathLst>
              <a:path h="408248" w="3742277">
                <a:moveTo>
                  <a:pt x="0" y="0"/>
                </a:moveTo>
                <a:lnTo>
                  <a:pt x="3742278" y="0"/>
                </a:lnTo>
                <a:lnTo>
                  <a:pt x="3742278" y="408248"/>
                </a:lnTo>
                <a:lnTo>
                  <a:pt x="0" y="4082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77" t="-23644" r="-8939" b="-15547"/>
            </a:stretch>
          </a:blipFill>
        </p:spPr>
      </p:sp>
      <p:sp>
        <p:nvSpPr>
          <p:cNvPr name="Freeform 3" id="3"/>
          <p:cNvSpPr/>
          <p:nvPr/>
        </p:nvSpPr>
        <p:spPr>
          <a:xfrm flipH="false" flipV="false" rot="0">
            <a:off x="6412134" y="9355801"/>
            <a:ext cx="3742277" cy="408248"/>
          </a:xfrm>
          <a:custGeom>
            <a:avLst/>
            <a:gdLst/>
            <a:ahLst/>
            <a:cxnLst/>
            <a:rect r="r" b="b" t="t" l="l"/>
            <a:pathLst>
              <a:path h="408248" w="3742277">
                <a:moveTo>
                  <a:pt x="0" y="0"/>
                </a:moveTo>
                <a:lnTo>
                  <a:pt x="3742278" y="0"/>
                </a:lnTo>
                <a:lnTo>
                  <a:pt x="3742278" y="408248"/>
                </a:lnTo>
                <a:lnTo>
                  <a:pt x="0" y="4082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18552" y="1914354"/>
            <a:ext cx="5643380" cy="7163804"/>
          </a:xfrm>
          <a:custGeom>
            <a:avLst/>
            <a:gdLst/>
            <a:ahLst/>
            <a:cxnLst/>
            <a:rect r="r" b="b" t="t" l="l"/>
            <a:pathLst>
              <a:path h="7163804" w="5643380">
                <a:moveTo>
                  <a:pt x="0" y="0"/>
                </a:moveTo>
                <a:lnTo>
                  <a:pt x="5643380" y="0"/>
                </a:lnTo>
                <a:lnTo>
                  <a:pt x="5643380" y="7163804"/>
                </a:lnTo>
                <a:lnTo>
                  <a:pt x="0" y="7163804"/>
                </a:lnTo>
                <a:lnTo>
                  <a:pt x="0" y="0"/>
                </a:lnTo>
                <a:close/>
              </a:path>
            </a:pathLst>
          </a:custGeom>
          <a:blipFill>
            <a:blip r:embed="rId5"/>
            <a:stretch>
              <a:fillRect l="0" t="-1280" r="0" b="-1280"/>
            </a:stretch>
          </a:blipFill>
        </p:spPr>
      </p:sp>
      <p:sp>
        <p:nvSpPr>
          <p:cNvPr name="TextBox 5" id="5"/>
          <p:cNvSpPr txBox="true"/>
          <p:nvPr/>
        </p:nvSpPr>
        <p:spPr>
          <a:xfrm rot="0">
            <a:off x="8639537" y="3168579"/>
            <a:ext cx="9125712" cy="5677535"/>
          </a:xfrm>
          <a:prstGeom prst="rect">
            <a:avLst/>
          </a:prstGeom>
        </p:spPr>
        <p:txBody>
          <a:bodyPr anchor="t" rtlCol="false" tIns="0" lIns="0" bIns="0" rIns="0">
            <a:spAutoFit/>
          </a:bodyPr>
          <a:lstStyle/>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Programming Language: Python </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Development Platform: Google Colab </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Data Processing: Pandas, NumPy </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Machine Learning: Scikit-learn </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Deep Learning: TensorFlow &amp; Keras </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Model: LSTM (Long Short-Term Memory) </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Visualization: Matplotlib </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Dataset: UCI SMS Spam Collection</a:t>
            </a:r>
          </a:p>
          <a:p>
            <a:pPr algn="just" marL="0" indent="0" lvl="0">
              <a:lnSpc>
                <a:spcPts val="4960"/>
              </a:lnSpc>
              <a:spcBef>
                <a:spcPct val="0"/>
              </a:spcBef>
            </a:pPr>
          </a:p>
        </p:txBody>
      </p:sp>
      <p:sp>
        <p:nvSpPr>
          <p:cNvPr name="TextBox 6" id="6"/>
          <p:cNvSpPr txBox="true"/>
          <p:nvPr/>
        </p:nvSpPr>
        <p:spPr>
          <a:xfrm rot="0">
            <a:off x="5404190" y="134938"/>
            <a:ext cx="6470694" cy="1501774"/>
          </a:xfrm>
          <a:prstGeom prst="rect">
            <a:avLst/>
          </a:prstGeom>
        </p:spPr>
        <p:txBody>
          <a:bodyPr anchor="t" rtlCol="false" tIns="0" lIns="0" bIns="0" rIns="0">
            <a:spAutoFit/>
          </a:bodyPr>
          <a:lstStyle/>
          <a:p>
            <a:pPr algn="l" marL="0" indent="0" lvl="0">
              <a:lnSpc>
                <a:spcPts val="11200"/>
              </a:lnSpc>
              <a:spcBef>
                <a:spcPct val="0"/>
              </a:spcBef>
            </a:pPr>
            <a:r>
              <a:rPr lang="en-US" sz="8000">
                <a:solidFill>
                  <a:srgbClr val="FFFFFF"/>
                </a:solidFill>
                <a:latin typeface="Codec Pro"/>
                <a:ea typeface="Codec Pro"/>
                <a:cs typeface="Codec Pro"/>
                <a:sym typeface="Codec Pro"/>
              </a:rPr>
              <a:t>TECH STACK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77" t="-23644" r="-8939" b="-15547"/>
            </a:stretch>
          </a:blipFill>
        </p:spPr>
      </p:sp>
      <p:sp>
        <p:nvSpPr>
          <p:cNvPr name="Freeform 3" id="3"/>
          <p:cNvSpPr/>
          <p:nvPr/>
        </p:nvSpPr>
        <p:spPr>
          <a:xfrm flipH="false" flipV="false" rot="0">
            <a:off x="5401723" y="9258300"/>
            <a:ext cx="3742277" cy="408248"/>
          </a:xfrm>
          <a:custGeom>
            <a:avLst/>
            <a:gdLst/>
            <a:ahLst/>
            <a:cxnLst/>
            <a:rect r="r" b="b" t="t" l="l"/>
            <a:pathLst>
              <a:path h="408248" w="3742277">
                <a:moveTo>
                  <a:pt x="0" y="0"/>
                </a:moveTo>
                <a:lnTo>
                  <a:pt x="3742277" y="0"/>
                </a:lnTo>
                <a:lnTo>
                  <a:pt x="3742277" y="408248"/>
                </a:lnTo>
                <a:lnTo>
                  <a:pt x="0" y="4082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882122" y="2841943"/>
            <a:ext cx="16523757" cy="5048885"/>
          </a:xfrm>
          <a:prstGeom prst="rect">
            <a:avLst/>
          </a:prstGeom>
        </p:spPr>
        <p:txBody>
          <a:bodyPr anchor="t" rtlCol="false" tIns="0" lIns="0" bIns="0" rIns="0">
            <a:spAutoFit/>
          </a:bodyPr>
          <a:lstStyle/>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Real-Time Deployment: Integrate the model into SMS or messaging applications for live spam detection.</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Higher Accuracy: Improve performance using larger and more diverse datasets.</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Advanced NLP: Explore Transformer-based models such as BERT for better context understanding.</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Multilingual Support: Extend detection to multiple languages and regional messages.</a:t>
            </a:r>
          </a:p>
          <a:p>
            <a:pPr algn="just" marL="690881" indent="-345440" lvl="1">
              <a:lnSpc>
                <a:spcPts val="4960"/>
              </a:lnSpc>
              <a:buFont typeface="Arial"/>
              <a:buChar char="•"/>
            </a:pPr>
            <a:r>
              <a:rPr lang="en-US" sz="3200" spc="-128">
                <a:solidFill>
                  <a:srgbClr val="FFFFFF">
                    <a:alpha val="60000"/>
                  </a:srgbClr>
                </a:solidFill>
                <a:latin typeface="Codec Pro"/>
                <a:ea typeface="Codec Pro"/>
                <a:cs typeface="Codec Pro"/>
                <a:sym typeface="Codec Pro"/>
              </a:rPr>
              <a:t>Adaptive Detection: Continuously retrain the model to identify emerging spam patterns.</a:t>
            </a:r>
          </a:p>
          <a:p>
            <a:pPr algn="just" marL="0" indent="0" lvl="0">
              <a:lnSpc>
                <a:spcPts val="4960"/>
              </a:lnSpc>
              <a:spcBef>
                <a:spcPct val="0"/>
              </a:spcBef>
            </a:pPr>
          </a:p>
        </p:txBody>
      </p:sp>
      <p:sp>
        <p:nvSpPr>
          <p:cNvPr name="TextBox 5" id="5"/>
          <p:cNvSpPr txBox="true"/>
          <p:nvPr/>
        </p:nvSpPr>
        <p:spPr>
          <a:xfrm rot="0">
            <a:off x="5268790" y="478155"/>
            <a:ext cx="7750421" cy="1158241"/>
          </a:xfrm>
          <a:prstGeom prst="rect">
            <a:avLst/>
          </a:prstGeom>
        </p:spPr>
        <p:txBody>
          <a:bodyPr anchor="t" rtlCol="false" tIns="0" lIns="0" bIns="0" rIns="0">
            <a:spAutoFit/>
          </a:bodyPr>
          <a:lstStyle/>
          <a:p>
            <a:pPr algn="l" marL="0" indent="0" lvl="0">
              <a:lnSpc>
                <a:spcPts val="7680"/>
              </a:lnSpc>
            </a:pPr>
            <a:r>
              <a:rPr lang="en-US" sz="8000">
                <a:solidFill>
                  <a:srgbClr val="FFFFFF"/>
                </a:solidFill>
                <a:latin typeface="Codec Pro"/>
                <a:ea typeface="Codec Pro"/>
                <a:cs typeface="Codec Pro"/>
                <a:sym typeface="Codec Pro"/>
              </a:rPr>
              <a:t>FUTUER SCOPE</a:t>
            </a:r>
          </a:p>
        </p:txBody>
      </p:sp>
      <p:sp>
        <p:nvSpPr>
          <p:cNvPr name="Freeform 6" id="6"/>
          <p:cNvSpPr/>
          <p:nvPr/>
        </p:nvSpPr>
        <p:spPr>
          <a:xfrm flipH="false" flipV="false" rot="0">
            <a:off x="10249320" y="-1174961"/>
            <a:ext cx="2203661" cy="2203661"/>
          </a:xfrm>
          <a:custGeom>
            <a:avLst/>
            <a:gdLst/>
            <a:ahLst/>
            <a:cxnLst/>
            <a:rect r="r" b="b" t="t" l="l"/>
            <a:pathLst>
              <a:path h="2203661" w="2203661">
                <a:moveTo>
                  <a:pt x="0" y="0"/>
                </a:moveTo>
                <a:lnTo>
                  <a:pt x="2203661" y="0"/>
                </a:lnTo>
                <a:lnTo>
                  <a:pt x="2203661" y="2203661"/>
                </a:lnTo>
                <a:lnTo>
                  <a:pt x="0" y="22036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577" t="-23644" r="-8939" b="-15547"/>
            </a:stretch>
          </a:blipFill>
        </p:spPr>
      </p:sp>
      <p:sp>
        <p:nvSpPr>
          <p:cNvPr name="TextBox 3" id="3"/>
          <p:cNvSpPr txBox="true"/>
          <p:nvPr/>
        </p:nvSpPr>
        <p:spPr>
          <a:xfrm rot="0">
            <a:off x="1028700" y="3156426"/>
            <a:ext cx="16230600" cy="4420235"/>
          </a:xfrm>
          <a:prstGeom prst="rect">
            <a:avLst/>
          </a:prstGeom>
        </p:spPr>
        <p:txBody>
          <a:bodyPr anchor="t" rtlCol="false" tIns="0" lIns="0" bIns="0" rIns="0">
            <a:spAutoFit/>
          </a:bodyPr>
          <a:lstStyle/>
          <a:p>
            <a:pPr algn="just">
              <a:lnSpc>
                <a:spcPts val="4960"/>
              </a:lnSpc>
            </a:pPr>
            <a:r>
              <a:rPr lang="en-US" sz="3200" spc="-128">
                <a:solidFill>
                  <a:srgbClr val="FFFFFF">
                    <a:alpha val="60000"/>
                  </a:srgbClr>
                </a:solidFill>
                <a:latin typeface="Codec Pro"/>
                <a:ea typeface="Codec Pro"/>
                <a:cs typeface="Codec Pro"/>
                <a:sym typeface="Codec Pro"/>
              </a:rPr>
              <a:t>The project successfully demonstrates the use of an LSTM-based Deep Learning model for effective SMS spam detection. By performing text preprocessing, sequence modeling, and systematic evaluation, the system can reliably distinguish between Spam and Ham messages. The project provides a practical foundation for building intelligent spam filtering systems and offers significant potential for future development in real-time, multilingual, and advanced spam detection applications.</a:t>
            </a:r>
          </a:p>
          <a:p>
            <a:pPr algn="just" marL="0" indent="0" lvl="0">
              <a:lnSpc>
                <a:spcPts val="4960"/>
              </a:lnSpc>
              <a:spcBef>
                <a:spcPct val="0"/>
              </a:spcBef>
            </a:pPr>
          </a:p>
        </p:txBody>
      </p:sp>
      <p:sp>
        <p:nvSpPr>
          <p:cNvPr name="TextBox 4" id="4"/>
          <p:cNvSpPr txBox="true"/>
          <p:nvPr/>
        </p:nvSpPr>
        <p:spPr>
          <a:xfrm rot="0">
            <a:off x="5627541" y="134938"/>
            <a:ext cx="7032918" cy="1501774"/>
          </a:xfrm>
          <a:prstGeom prst="rect">
            <a:avLst/>
          </a:prstGeom>
        </p:spPr>
        <p:txBody>
          <a:bodyPr anchor="t" rtlCol="false" tIns="0" lIns="0" bIns="0" rIns="0">
            <a:spAutoFit/>
          </a:bodyPr>
          <a:lstStyle/>
          <a:p>
            <a:pPr algn="l" marL="0" indent="0" lvl="0">
              <a:lnSpc>
                <a:spcPts val="11200"/>
              </a:lnSpc>
              <a:spcBef>
                <a:spcPct val="0"/>
              </a:spcBef>
            </a:pPr>
            <a:r>
              <a:rPr lang="en-US" sz="8000">
                <a:solidFill>
                  <a:srgbClr val="FFFFFF"/>
                </a:solidFill>
                <a:latin typeface="Codec Pro"/>
                <a:ea typeface="Codec Pro"/>
                <a:cs typeface="Codec Pro"/>
                <a:sym typeface="Codec Pro"/>
              </a:rPr>
              <a:t>CONCLUSION</a:t>
            </a:r>
          </a:p>
        </p:txBody>
      </p:sp>
      <p:sp>
        <p:nvSpPr>
          <p:cNvPr name="Freeform 5" id="5"/>
          <p:cNvSpPr/>
          <p:nvPr/>
        </p:nvSpPr>
        <p:spPr>
          <a:xfrm flipH="false" flipV="false" rot="0">
            <a:off x="5401723" y="9258300"/>
            <a:ext cx="3742277" cy="408248"/>
          </a:xfrm>
          <a:custGeom>
            <a:avLst/>
            <a:gdLst/>
            <a:ahLst/>
            <a:cxnLst/>
            <a:rect r="r" b="b" t="t" l="l"/>
            <a:pathLst>
              <a:path h="408248" w="3742277">
                <a:moveTo>
                  <a:pt x="0" y="0"/>
                </a:moveTo>
                <a:lnTo>
                  <a:pt x="3742277" y="0"/>
                </a:lnTo>
                <a:lnTo>
                  <a:pt x="3742277" y="408248"/>
                </a:lnTo>
                <a:lnTo>
                  <a:pt x="0" y="4082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A27"/>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07297"/>
            <a:ext cx="16230600" cy="4072405"/>
          </a:xfrm>
          <a:custGeom>
            <a:avLst/>
            <a:gdLst/>
            <a:ahLst/>
            <a:cxnLst/>
            <a:rect r="r" b="b" t="t" l="l"/>
            <a:pathLst>
              <a:path h="4072405" w="16230600">
                <a:moveTo>
                  <a:pt x="0" y="0"/>
                </a:moveTo>
                <a:lnTo>
                  <a:pt x="16230600" y="0"/>
                </a:lnTo>
                <a:lnTo>
                  <a:pt x="16230600" y="4072406"/>
                </a:lnTo>
                <a:lnTo>
                  <a:pt x="0" y="407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23497" y="7650734"/>
            <a:ext cx="5589376" cy="609750"/>
          </a:xfrm>
          <a:custGeom>
            <a:avLst/>
            <a:gdLst/>
            <a:ahLst/>
            <a:cxnLst/>
            <a:rect r="r" b="b" t="t" l="l"/>
            <a:pathLst>
              <a:path h="609750" w="5589376">
                <a:moveTo>
                  <a:pt x="0" y="0"/>
                </a:moveTo>
                <a:lnTo>
                  <a:pt x="5589377" y="0"/>
                </a:lnTo>
                <a:lnTo>
                  <a:pt x="5589377" y="609750"/>
                </a:lnTo>
                <a:lnTo>
                  <a:pt x="0" y="6097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82472" y="2246836"/>
            <a:ext cx="5589376" cy="609750"/>
          </a:xfrm>
          <a:custGeom>
            <a:avLst/>
            <a:gdLst/>
            <a:ahLst/>
            <a:cxnLst/>
            <a:rect r="r" b="b" t="t" l="l"/>
            <a:pathLst>
              <a:path h="609750" w="5589376">
                <a:moveTo>
                  <a:pt x="0" y="0"/>
                </a:moveTo>
                <a:lnTo>
                  <a:pt x="5589377" y="0"/>
                </a:lnTo>
                <a:lnTo>
                  <a:pt x="5589377" y="609750"/>
                </a:lnTo>
                <a:lnTo>
                  <a:pt x="0" y="6097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283861" y="7650734"/>
            <a:ext cx="1758378" cy="1758378"/>
          </a:xfrm>
          <a:custGeom>
            <a:avLst/>
            <a:gdLst/>
            <a:ahLst/>
            <a:cxnLst/>
            <a:rect r="r" b="b" t="t" l="l"/>
            <a:pathLst>
              <a:path h="1758378" w="1758378">
                <a:moveTo>
                  <a:pt x="0" y="0"/>
                </a:moveTo>
                <a:lnTo>
                  <a:pt x="1758378" y="0"/>
                </a:lnTo>
                <a:lnTo>
                  <a:pt x="1758378" y="1758378"/>
                </a:lnTo>
                <a:lnTo>
                  <a:pt x="0" y="17583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279525" y="-1571986"/>
            <a:ext cx="3143972" cy="3143972"/>
          </a:xfrm>
          <a:custGeom>
            <a:avLst/>
            <a:gdLst/>
            <a:ahLst/>
            <a:cxnLst/>
            <a:rect r="r" b="b" t="t" l="l"/>
            <a:pathLst>
              <a:path h="3143972" w="3143972">
                <a:moveTo>
                  <a:pt x="0" y="0"/>
                </a:moveTo>
                <a:lnTo>
                  <a:pt x="3143972" y="0"/>
                </a:lnTo>
                <a:lnTo>
                  <a:pt x="3143972" y="3143972"/>
                </a:lnTo>
                <a:lnTo>
                  <a:pt x="0" y="31439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390548" y="3087672"/>
            <a:ext cx="15545004" cy="3044857"/>
          </a:xfrm>
          <a:prstGeom prst="rect">
            <a:avLst/>
          </a:prstGeom>
        </p:spPr>
        <p:txBody>
          <a:bodyPr anchor="t" rtlCol="false" tIns="0" lIns="0" bIns="0" rIns="0">
            <a:spAutoFit/>
          </a:bodyPr>
          <a:lstStyle/>
          <a:p>
            <a:pPr algn="ctr" marL="0" indent="0" lvl="0">
              <a:lnSpc>
                <a:spcPts val="24848"/>
              </a:lnSpc>
            </a:pPr>
            <a:r>
              <a:rPr lang="en-US" sz="17748">
                <a:solidFill>
                  <a:srgbClr val="FFFFFF"/>
                </a:solidFill>
                <a:latin typeface="RQND Pro"/>
                <a:ea typeface="RQND Pro"/>
                <a:cs typeface="RQND Pro"/>
                <a:sym typeface="RQND Pr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DAHYzIZotUc</dc:identifier>
  <dcterms:modified xsi:type="dcterms:W3CDTF">2011-08-01T06:04:30Z</dcterms:modified>
  <cp:revision>1</cp:revision>
  <dc:title>Blue Futuristic Innovative AI Presentation</dc:title>
</cp:coreProperties>
</file>